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</a:t>
            </a:r>
            <a:pPr indent="0" marL="0">
              <a:buNone/>
            </a:pPr>
            <a:r>
              <a:rPr lang="en-US" sz="2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RFI Processes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EMEA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417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email sent 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LBUs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29260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926080"/>
            <a:ext cx="1417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true up – process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align sites on Envizi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lease database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08760" y="230428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304288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about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to LBUs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1234440"/>
            <a:ext cx="12344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234440"/>
            <a:ext cx="0" cy="8686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103120"/>
            <a:ext cx="29260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1234440"/>
            <a:ext cx="0" cy="106984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2688" y="1691640"/>
            <a:ext cx="0" cy="123444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182880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E8897D"/>
          </a:solidFill>
          <a:ln w="12700">
            <a:solidFill>
              <a:srgbClr val="E889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828800"/>
            <a:ext cx="1115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LBUs return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RFI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58768" y="2112264"/>
            <a:ext cx="914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50208" y="182880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E8897D"/>
          </a:solidFill>
          <a:ln w="12700">
            <a:solidFill>
              <a:srgbClr val="E889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1828800"/>
            <a:ext cx="1115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queries to LBUs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65776" y="2112264"/>
            <a:ext cx="914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57216" y="182880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E8897D"/>
          </a:solidFill>
          <a:ln w="12700">
            <a:solidFill>
              <a:srgbClr val="E889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828800"/>
            <a:ext cx="1115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upload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Envizi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72784" y="2112264"/>
            <a:ext cx="914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64224" y="182880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E8897D"/>
          </a:solidFill>
          <a:ln w="12700">
            <a:solidFill>
              <a:srgbClr val="E889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828800"/>
            <a:ext cx="1115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QC 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queries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LBUs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79792" y="2112264"/>
            <a:ext cx="914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71232" y="182880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E8897D"/>
          </a:solidFill>
          <a:ln w="12700">
            <a:solidFill>
              <a:srgbClr val="E889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1828800"/>
            <a:ext cx="11155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process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2542032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Year (RY) 2026 – RFI Schedule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798064"/>
          <a:ext cx="43434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92024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for Period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 of Submitting RFI Templates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 2025 – December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March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 2026 – March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May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2026 – June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August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2026 – September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October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EMEA – Account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Energy &amp; Sustainability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4160520" cy="310896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243584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7043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Nuttall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2064" y="1316736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Director EMEA, JLL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40864" y="119786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Account Director for Xerox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1600200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27048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 Verheijen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1673352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– Xerox (Main EMEA contact)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340864" y="1554480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client managing EMEA portfolio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4160520" cy="310896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1956816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883664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 Stevens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2064" y="2029968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– Xerox (EMEA)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340864" y="191109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Co-manages EMEA with Pieter Verheijen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221992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2313432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2402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Bonner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2386584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– Go Inspire Portfolio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40864" y="226771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Go Inspire (acquired 2024, 6 sites)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78608"/>
            <a:ext cx="4160520" cy="310896"/>
          </a:xfrm>
          <a:prstGeom prst="rect">
            <a:avLst/>
          </a:prstGeom>
          <a:solidFill>
            <a:srgbClr val="EEF2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" y="2670048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2596896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Prescott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" y="2743200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– France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340864" y="26243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managing France sites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2935224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" y="3026664"/>
            <a:ext cx="118872" cy="118872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295351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Shaun Wright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2064" y="3099816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Lead Auditor – Article 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340864" y="298094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ESOS / Article 8 compliance lead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8046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Scope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1152144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1887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754880" y="1508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in Portfolio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17920" y="1152144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1887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145,587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217920" y="1508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Floor Area (m²)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80960" y="1152144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11887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680960" y="150876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in Q4 Report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54880" y="196596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Scope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223113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portfolio – 129 sites, 145,587 m² total floor area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00600" y="246888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Inspire portfolio (6 sites) – acquired by Xerox in 2024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0600" y="27066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portals: British Gas, World-Kinect (UK), Eview 4.0 (Netherlands), Xerox SharePoint (France)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29443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updates: Izabela Paradowska (JLL Lease Admin) – quarterly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4320" y="324612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– Portfolio Performance (YoY)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3493008"/>
            <a:ext cx="8595360" cy="0"/>
          </a:xfrm>
          <a:prstGeom prst="line">
            <a:avLst/>
          </a:prstGeom>
          <a:noFill/>
          <a:ln w="9525">
            <a:solidFill>
              <a:srgbClr val="C0C8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529584"/>
            <a:ext cx="2029968" cy="694944"/>
          </a:xfrm>
          <a:prstGeom prst="roundRect">
            <a:avLst>
              <a:gd name="adj" fmla="val 9211"/>
            </a:avLst>
          </a:prstGeom>
          <a:solidFill>
            <a:srgbClr val="EEF4F0"/>
          </a:solidFill>
          <a:ln w="12700">
            <a:solidFill>
              <a:srgbClr val="C0D8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54787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Energy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7472" y="370332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40,908,502 kWh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47472" y="38587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14.8%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450592" y="3529584"/>
            <a:ext cx="2029968" cy="694944"/>
          </a:xfrm>
          <a:prstGeom prst="roundRect">
            <a:avLst>
              <a:gd name="adj" fmla="val 9211"/>
            </a:avLst>
          </a:prstGeom>
          <a:solidFill>
            <a:srgbClr val="EEF4F0"/>
          </a:solidFill>
          <a:ln w="12700">
            <a:solidFill>
              <a:srgbClr val="C0D8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23744" y="354787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Electricity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23744" y="370332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34,842,382 kWh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523744" y="38587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9.9%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26864" y="3529584"/>
            <a:ext cx="2029968" cy="694944"/>
          </a:xfrm>
          <a:prstGeom prst="roundRect">
            <a:avLst>
              <a:gd name="adj" fmla="val 9211"/>
            </a:avLst>
          </a:prstGeom>
          <a:solidFill>
            <a:srgbClr val="EEF4F0"/>
          </a:solidFill>
          <a:ln w="12700">
            <a:solidFill>
              <a:srgbClr val="C0D8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0016" y="354787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Natural Gas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00016" y="370332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6,066,120 kWh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00016" y="38587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35.3%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803136" y="3529584"/>
            <a:ext cx="2029968" cy="694944"/>
          </a:xfrm>
          <a:prstGeom prst="roundRect">
            <a:avLst>
              <a:gd name="adj" fmla="val 9211"/>
            </a:avLst>
          </a:prstGeom>
          <a:solidFill>
            <a:srgbClr val="EEF4F0"/>
          </a:solidFill>
          <a:ln w="12700">
            <a:solidFill>
              <a:srgbClr val="C0D8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354787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tCO₂e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76288" y="370332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9,112 tCO₂e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876288" y="385876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17.1%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274320" y="431596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– Data Quality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535424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  <a:gridCol w="1188720"/>
              </a:tblGrid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(12%) invoiced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(71%) proxied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(17%) mixed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440680" y="4315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40680" y="4535424"/>
            <a:ext cx="3474720" cy="512064"/>
          </a:xfrm>
          <a:prstGeom prst="roundRect">
            <a:avLst>
              <a:gd name="adj" fmla="val 12500"/>
            </a:avLst>
          </a:prstGeom>
          <a:solidFill>
            <a:srgbClr val="EEF4F0"/>
          </a:solidFill>
          <a:ln w="12700">
            <a:solidFill>
              <a:srgbClr val="C0D8C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532120" y="45720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21.15M kWh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5532120" y="47914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(59.78%)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223760" y="457200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14.23M kWh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223760" y="4791456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Non-Renewable (40.22%)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C0C8D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Energy &amp; Sustainability  |  Xerox EMEA Account  |  Q4 2025 Data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EMEA – Quarterly Process &amp; Regional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76656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Energy &amp; Sustainability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Reporting Process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"/>
                <a:gridCol w="3127248"/>
                <a:gridCol w="210312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/ 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data via portals &amp; emails (British Gas, World-Kinect, Eview 4.0, Xerox SharePoint)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– ongoing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Zoltan (World-Kinect), Remi (France), Pieter (Eview)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Xerox Utility Tracker (data entry, emission &amp; renewable calculations)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after data received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Tracy Chung / analyst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BI Dashboard (reconnect to updated Utility Tracker on CORE SharePoint)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tracker update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– Power BI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&amp; Commentary (Overview, EUI Analysis, Commentary tabs in Utility Tracker)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quarter + 1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quarterly report to PDF and send to Caroline for preview/approval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– 1 month lag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Caroline (internal review)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approved report to Pieter, Tony Bonner, Andrew Prescott; post-call final to Will Armington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Caroline's approval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Pieter, Tony Bonner, Andrew Prescott, Will Armington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999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– Regional Energy Breakdown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594360"/>
                <a:gridCol w="960120"/>
                <a:gridCol w="68580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Energy (kWh)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EUI (kWh/m²)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Renew.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&amp; Ireland (GI)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14,635,599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 / 622 (GI)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EUI region (GI sites). UK electricity 100% renewable except Bristol, Wakefield, Wimbourne.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Europe – Netherlands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3,350,036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–69.4%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Amfoor largest consumer. Reduction follows seasonal heating phase-out from Q2.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Europe – France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5,077,983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EUI 370 kWh/m². 65% proxied data. Stable consumption YoY.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Europe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highest EUI at 463 kWh/m². Contributing significantly to EMEA portfolio.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59028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E8EEF6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461772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Commentary Q4 2025: </a:t>
            </a:r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portfolio reduced by 2% in Oct–Dec 2025. Dundalk Toner is largest consumer (~18% of Q4 YTD). Go Inspire (6 sites) accounts for 14% of total energy. Renewable mix: 59.78% (21.15M kWh).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C0C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Energy &amp; Sustainability  |  Xerox EMEA Account  |  Q4 2025 Data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2026-06-16T16:48:50Z</dcterms:created>
  <dcterms:modified xsi:type="dcterms:W3CDTF">2026-06-16T16:48:50Z</dcterms:modified>
</cp:coreProperties>
</file>